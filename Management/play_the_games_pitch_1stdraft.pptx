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 AUD)</c:v>
                </c:pt>
              </c:strCache>
            </c:strRef>
          </c:tx>
          <c:spPr>
            <a:solidFill>
              <a:srgbClr val="00C2A8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  <c:pt idx="4">
                  <c:v>2031</c:v>
                </c:pt>
                <c:pt idx="5">
                  <c:v>2032</c:v>
                </c:pt>
                <c:pt idx="6">
                  <c:v>2033</c:v>
                </c:pt>
                <c:pt idx="7">
                  <c:v>2034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0.13700000000000001</c:v>
                </c:pt>
                <c:pt idx="1">
                  <c:v>0.68400000000000005</c:v>
                </c:pt>
                <c:pt idx="2">
                  <c:v>0.97199999999999998</c:v>
                </c:pt>
                <c:pt idx="3">
                  <c:v>1.62</c:v>
                </c:pt>
                <c:pt idx="4">
                  <c:v>2.7360000000000002</c:v>
                </c:pt>
                <c:pt idx="5">
                  <c:v>15.096</c:v>
                </c:pt>
                <c:pt idx="6">
                  <c:v>1.7</c:v>
                </c:pt>
                <c:pt idx="7">
                  <c:v>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34-4BA0-A76B-720BE929E99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 ($M AUD)</c:v>
                </c:pt>
              </c:strCache>
            </c:strRef>
          </c:tx>
          <c:spPr>
            <a:solidFill>
              <a:srgbClr val="C7546B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  <c:pt idx="4">
                  <c:v>2031</c:v>
                </c:pt>
                <c:pt idx="5">
                  <c:v>2032</c:v>
                </c:pt>
                <c:pt idx="6">
                  <c:v>2033</c:v>
                </c:pt>
                <c:pt idx="7">
                  <c:v>2034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0.29499999999999998</c:v>
                </c:pt>
                <c:pt idx="1">
                  <c:v>0.19500000000000001</c:v>
                </c:pt>
                <c:pt idx="2">
                  <c:v>0.23</c:v>
                </c:pt>
                <c:pt idx="3">
                  <c:v>0.30499999999999999</c:v>
                </c:pt>
                <c:pt idx="4">
                  <c:v>0.38</c:v>
                </c:pt>
                <c:pt idx="5">
                  <c:v>0.66</c:v>
                </c:pt>
                <c:pt idx="6">
                  <c:v>0.19</c:v>
                </c:pt>
                <c:pt idx="7">
                  <c:v>0.19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634-4BA0-A76B-720BE929E9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B718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3389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warm. State the HMW in one breath after the title. This is Brisbane 2032 and beyond — not just an Olympic activation, a new category of sponsorship.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 max. Signal the five beats so the audience knows where we're going.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scale numbers hard. Pause after '9.5 million tickets'. This is the size of the prize, before we even mention the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HMW statement aloud slowly — it's doing real work, don't rush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three pillars left to right. Emphasise 'no app download' — it's the single biggest UX differentiator versus competitors.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proof, not opinion — Deloitte data exists independently of our pitch. Let the stats breathe.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two personas to narrate live (Liam + Sofia recommended) — don't read all four, point and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quickly — this is the lived experience in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venue takes zero risk. That's the line a judge will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real commercial engine. Read the formula box. Flag the revenue share % as deliberately open — we're not pretending to have negotiated it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columns, financial vs beyond-revenue — don't read every bullet, paraphrase 2-3 per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chart do the talking. Point at 2027 (loss, by design), then 2032 (the spike), then 2033+ (the stabilisation).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and legal in one breath — we've done the homework, this isn't hand-waved.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'why not let people play whenever' — this is the slide. Lead with the one-liner: the when is flexible, the togetherness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our resilience story — we're not betting on one future. Walk all four quadrants briefly, dwell on 'Dead Time Wins' as the one we're actively guarding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through the five phases — this is credibility, not new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differentiation slide — don't compare to competitors by name unless asked, let the four points speak for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 this slide. Confidence here builds more trust than dodging it. State the answer for each risk plainly.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down. This is the emotional close — Brisbane 2032 is the proof of concept, Australian sport is the market. Land the three asks clearly and stop talking.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02920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9281160" y="502920"/>
            <a:ext cx="91440" cy="91440"/>
          </a:xfrm>
          <a:prstGeom prst="ellipse">
            <a:avLst/>
          </a:prstGeom>
          <a:solidFill>
            <a:srgbClr val="F5A623">
              <a:alpha val="92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9784080" y="502920"/>
            <a:ext cx="91440" cy="91440"/>
          </a:xfrm>
          <a:prstGeom prst="ellipse">
            <a:avLst/>
          </a:prstGeom>
          <a:solidFill>
            <a:srgbClr val="00C2A8">
              <a:alpha val="84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0287000" y="502920"/>
            <a:ext cx="91440" cy="91440"/>
          </a:xfrm>
          <a:prstGeom prst="ellipse">
            <a:avLst/>
          </a:prstGeom>
          <a:solidFill>
            <a:srgbClr val="F5A623">
              <a:alpha val="76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10789920" y="502920"/>
            <a:ext cx="91440" cy="91440"/>
          </a:xfrm>
          <a:prstGeom prst="ellipse">
            <a:avLst/>
          </a:prstGeom>
          <a:solidFill>
            <a:srgbClr val="00C2A8">
              <a:alpha val="68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BRISBANE 2032 AND BEYOND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 the Games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48640" y="39776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Sponsor-funded, prize-driven mobile gaming that turns Olympic dead time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Australia's most valuable unsold sponsorship asset.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692640" y="4160520"/>
            <a:ext cx="1463040" cy="1463040"/>
          </a:xfrm>
          <a:prstGeom prst="ellipse">
            <a:avLst/>
          </a:prstGeom>
          <a:solidFill>
            <a:srgbClr val="00C2A8"/>
          </a:solidFill>
          <a:ln/>
          <a:effectLst>
            <a:outerShdw blurRad="254000" dist="50800" dir="2700000" algn="bl" rotWithShape="0">
              <a:srgbClr val="00C2A8">
                <a:alpha val="3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4480560"/>
            <a:ext cx="822960" cy="8229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6217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Innovation Challenge 2026  ·  The Business of Sport in Australia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GOING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Pitch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993392" cy="3291840"/>
          </a:xfrm>
          <a:prstGeom prst="roundRect">
            <a:avLst>
              <a:gd name="adj" fmla="val 3670"/>
            </a:avLst>
          </a:prstGeom>
          <a:solidFill>
            <a:srgbClr val="0B1B33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713232" y="192024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13232" y="2514600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3337560"/>
            <a:ext cx="16642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time is the largest unsold asset in Australian sport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06624" y="1737360"/>
            <a:ext cx="1993392" cy="3291840"/>
          </a:xfrm>
          <a:prstGeom prst="roundRect">
            <a:avLst>
              <a:gd name="adj" fmla="val 3670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2871216" y="192024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D2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871216" y="2514600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71216" y="3337560"/>
            <a:ext cx="16642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Games — beat the scroll, win the moment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64608" y="1737360"/>
            <a:ext cx="1993392" cy="3291840"/>
          </a:xfrm>
          <a:prstGeom prst="roundRect">
            <a:avLst>
              <a:gd name="adj" fmla="val 3670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029200" y="192024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D2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29200" y="2514600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Wants 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337560"/>
            <a:ext cx="16642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Fans, brands, venues and the OCOG — and the value each gets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022592" y="1737360"/>
            <a:ext cx="1993392" cy="3291840"/>
          </a:xfrm>
          <a:prstGeom prst="roundRect">
            <a:avLst>
              <a:gd name="adj" fmla="val 3670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7187184" y="192024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D2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187184" y="2514600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87184" y="3337560"/>
            <a:ext cx="16642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B2B2C revenue share model, commercial logic, and resilience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80576" y="1737360"/>
            <a:ext cx="1993392" cy="3291840"/>
          </a:xfrm>
          <a:prstGeom prst="roundRect">
            <a:avLst>
              <a:gd name="adj" fmla="val 3670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9345168" y="192024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D2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345168" y="2514600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45168" y="3337560"/>
            <a:ext cx="16642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Feasibility, phased rollout, and why we win this window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Games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Brisbane 2032 owns the largest captive audience</a:t>
            </a:r>
            <a:endParaRPr lang="en-US" sz="2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Australian history. It's leaking to TikTok.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9.5M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across 37 venues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54680" y="21945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154680" y="2971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venues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21945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760720" y="2971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competition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66760" y="21945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366760" y="2971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dead-time windows per session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11064240" cy="9144"/>
          </a:xfrm>
          <a:prstGeom prst="rect">
            <a:avLst/>
          </a:prstGeom>
          <a:solidFill>
            <a:srgbClr val="2A3F5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48640" y="4023360"/>
            <a:ext cx="6675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queue. Every break in play. Every transfer between venues is dead time — and dead time today belongs to social media, not the Olympics. 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passive disengagement. It is attention being actively won by competitors, every single day of competition.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60920" y="4069080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7635240" y="39502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experience  </a:t>
            </a:r>
            <a:r>
              <a:rPr lang="en-US" sz="1250" dirty="0">
                <a:solidFill>
                  <a:srgbClr val="AE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bored spectator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60920" y="4782312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7635240" y="4663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revenue  </a:t>
            </a:r>
            <a:r>
              <a:rPr lang="en-US" sz="1250" dirty="0">
                <a:solidFill>
                  <a:srgbClr val="AE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sponsors who can't measure it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60920" y="5495544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7635240" y="53766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education  </a:t>
            </a:r>
            <a:r>
              <a:rPr lang="en-US" sz="1250" dirty="0">
                <a:solidFill>
                  <a:srgbClr val="AE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fans new to unfamiliar sports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Games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WE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We're Answering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2743200"/>
          </a:xfrm>
          <a:prstGeom prst="roundRect">
            <a:avLst>
              <a:gd name="adj" fmla="val 3333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005840" y="2011680"/>
            <a:ext cx="10149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might </a:t>
            </a:r>
            <a:r>
              <a:rPr lang="en-US" sz="21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 the Games</a:t>
            </a:r>
            <a:r>
              <a:rPr lang="en-US" sz="2100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use sponsor-funded, prize-driven mobile gaming during in-venue dead time at Brisbane 2032 to </a:t>
            </a:r>
            <a:r>
              <a:rPr lang="en-US" sz="21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recapture fan attention</a:t>
            </a:r>
            <a:r>
              <a:rPr lang="en-US" sz="2100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from social media, </a:t>
            </a:r>
            <a:r>
              <a:rPr lang="en-US" sz="21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 in-venue spending</a:t>
            </a:r>
            <a:r>
              <a:rPr lang="en-US" sz="2100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21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 ticket demand</a:t>
            </a:r>
            <a:r>
              <a:rPr lang="en-US" sz="2100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through prize-based hype, and build a fan engagement platform that </a:t>
            </a:r>
            <a:r>
              <a:rPr lang="en-US" sz="21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Australian sporting codes can license beyond 2032</a:t>
            </a:r>
            <a:r>
              <a:rPr lang="en-US" sz="2100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4846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time is the single largest unsold asset Brisbane 2032 owns — and it's currently given away for free to platforms the Games don't control.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Games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 the Games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phone to get people off their phones.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594360" cy="59436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234909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743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Mini-games &amp; quizzes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2004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sport-themed challenges that activate dead-time windows — fans play instead of swipe.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19202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4617720" y="2194560"/>
            <a:ext cx="594360" cy="59436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254" y="234909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2743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Sponsor-funded rewards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17720" y="32004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discounts (10–20%) and instant prizes, redeemable immediately in-venue.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38160" y="19202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2"/>
          <p:cNvSpPr/>
          <p:nvPr/>
        </p:nvSpPr>
        <p:spPr>
          <a:xfrm>
            <a:off x="8412480" y="2194560"/>
            <a:ext cx="594360" cy="59436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7014" y="234909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2743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the big screen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412480" y="32004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Winners and section leaderboards appear on the stadium screen — a shared moment, not a private app.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mechanics: QR-triggered mini-games · sponsor-funded prizes · public leaderboard moments — no app download required.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48640" y="5212080"/>
            <a:ext cx="2057400" cy="777240"/>
          </a:xfrm>
          <a:prstGeom prst="roundRect">
            <a:avLst>
              <a:gd name="adj" fmla="val 52941"/>
            </a:avLst>
          </a:prstGeom>
          <a:solidFill>
            <a:srgbClr val="0B1B3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17"/>
          <p:cNvSpPr/>
          <p:nvPr/>
        </p:nvSpPr>
        <p:spPr>
          <a:xfrm>
            <a:off x="621792" y="5212080"/>
            <a:ext cx="1911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time hits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2542032" y="5522976"/>
            <a:ext cx="128016" cy="128016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Shape 19"/>
          <p:cNvSpPr/>
          <p:nvPr/>
        </p:nvSpPr>
        <p:spPr>
          <a:xfrm>
            <a:off x="2670048" y="5212080"/>
            <a:ext cx="2057400" cy="777240"/>
          </a:xfrm>
          <a:prstGeom prst="roundRect">
            <a:avLst>
              <a:gd name="adj" fmla="val 52941"/>
            </a:avLst>
          </a:prstGeom>
          <a:solidFill>
            <a:srgbClr val="0B1B3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0"/>
          <p:cNvSpPr/>
          <p:nvPr/>
        </p:nvSpPr>
        <p:spPr>
          <a:xfrm>
            <a:off x="2743200" y="5212080"/>
            <a:ext cx="1911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appears on screen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663440" y="5522976"/>
            <a:ext cx="128016" cy="128016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Shape 22"/>
          <p:cNvSpPr/>
          <p:nvPr/>
        </p:nvSpPr>
        <p:spPr>
          <a:xfrm>
            <a:off x="4791456" y="5212080"/>
            <a:ext cx="2057400" cy="777240"/>
          </a:xfrm>
          <a:prstGeom prst="roundRect">
            <a:avLst>
              <a:gd name="adj" fmla="val 52941"/>
            </a:avLst>
          </a:prstGeom>
          <a:solidFill>
            <a:srgbClr val="0B1B3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23"/>
          <p:cNvSpPr/>
          <p:nvPr/>
        </p:nvSpPr>
        <p:spPr>
          <a:xfrm>
            <a:off x="4864608" y="5212080"/>
            <a:ext cx="1911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&amp; play (3 sec)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6784848" y="5522976"/>
            <a:ext cx="128016" cy="128016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Shape 25"/>
          <p:cNvSpPr/>
          <p:nvPr/>
        </p:nvSpPr>
        <p:spPr>
          <a:xfrm>
            <a:off x="6912864" y="5212080"/>
            <a:ext cx="2057400" cy="777240"/>
          </a:xfrm>
          <a:prstGeom prst="roundRect">
            <a:avLst>
              <a:gd name="adj" fmla="val 52941"/>
            </a:avLst>
          </a:prstGeom>
          <a:solidFill>
            <a:srgbClr val="0B1B3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Text 26"/>
          <p:cNvSpPr/>
          <p:nvPr/>
        </p:nvSpPr>
        <p:spPr>
          <a:xfrm>
            <a:off x="6986016" y="5212080"/>
            <a:ext cx="1911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&amp; redeem instantly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8906256" y="5522976"/>
            <a:ext cx="128016" cy="128016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3" name="Shape 28"/>
          <p:cNvSpPr/>
          <p:nvPr/>
        </p:nvSpPr>
        <p:spPr>
          <a:xfrm>
            <a:off x="9034272" y="5212080"/>
            <a:ext cx="2057400" cy="777240"/>
          </a:xfrm>
          <a:prstGeom prst="roundRect">
            <a:avLst>
              <a:gd name="adj" fmla="val 52941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4" name="Text 29"/>
          <p:cNvSpPr/>
          <p:nvPr/>
        </p:nvSpPr>
        <p:spPr>
          <a:xfrm>
            <a:off x="9107424" y="5212080"/>
            <a:ext cx="1911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resumes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Games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Wants It — and What They Get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3611880"/>
          </a:xfrm>
          <a:prstGeom prst="roundRect">
            <a:avLst>
              <a:gd name="adj" fmla="val 2807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355848" y="1783080"/>
            <a:ext cx="2606040" cy="3611880"/>
          </a:xfrm>
          <a:prstGeom prst="roundRect">
            <a:avLst>
              <a:gd name="adj" fmla="val 2807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584448" y="201168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6163056" y="1783080"/>
            <a:ext cx="2606040" cy="3611880"/>
          </a:xfrm>
          <a:prstGeom prst="roundRect">
            <a:avLst>
              <a:gd name="adj" fmla="val 2807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6391656" y="201168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8970264" y="1783080"/>
            <a:ext cx="2606040" cy="3611880"/>
          </a:xfrm>
          <a:prstGeom prst="roundRect">
            <a:avLst>
              <a:gd name="adj" fmla="val 2807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9198864" y="201168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139696"/>
            <a:ext cx="292608" cy="29260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7240" y="27432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77240" y="299923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In-Venue Fans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777240" y="3584448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Frictionless entertainment, real prizes, and sport literacy — no app, no cost, no friction.</a:t>
            </a:r>
            <a:endParaRPr lang="en-US" sz="1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464" y="2139696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84448" y="27432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584448" y="299923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Brands &amp; Sponsors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3584448" y="3584448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Active, measurable engagement instead of passive billboard impressions — sessions, time spent, redemptions.</a:t>
            </a:r>
            <a:endParaRPr lang="en-US" sz="11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2139696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91656" y="27432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391656" y="299923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Venues &amp; Stadiums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6391656" y="3584448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sponsorship inventory layered onto existing relationships — at no operational cost.</a:t>
            </a:r>
            <a:endParaRPr lang="en-US" sz="11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2139696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98864" y="27432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PARTNER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9198864" y="299923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Brisbane 2032 OCOG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9198864" y="3584448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self-funding fan engagement layer and a legacy platform for Australian sport.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Games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HYPOTHETICAL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research already confirms</a:t>
            </a:r>
            <a:endParaRPr lang="en-US" sz="2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behaviour and the reward mechanic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13294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sports bettors already use mobile devices to engage in-venue during live events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06240" y="196596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13294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480560" y="21945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480560" y="301752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fans would engage with a chance to win prizes through games and quizzes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863840" y="196596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13294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8138160" y="21945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~75%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138160" y="301752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Gen Z and Millennial fans say the same — Play the Games' core target audience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Deloitte Center for Technology, Media &amp; Telecommunications (2023). 2023 Sports Fan Insights: The Beginning of the Immersive Sports Era.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Games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DESIRABILITY, BY NAME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Fans, Four Reasons to Play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3611880"/>
          </a:xfrm>
          <a:prstGeom prst="roundRect">
            <a:avLst>
              <a:gd name="adj" fmla="val 2807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21543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97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Liam, 39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0358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Multi-Event Games Fan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3401568"/>
            <a:ext cx="2148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his whole Games journey connected — Account Mode, points and a cross-venue leaderboard.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55848" y="1783080"/>
            <a:ext cx="2606040" cy="3611880"/>
          </a:xfrm>
          <a:prstGeom prst="roundRect">
            <a:avLst>
              <a:gd name="adj" fmla="val 2807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3584448" y="201168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7094" y="215432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84448" y="2697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Sofia, 31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84448" y="30358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Sport Viewer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584448" y="3401568"/>
            <a:ext cx="2148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know the rules of canoe slalom — a 90-second quiz turns confusion into understanding.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63056" y="1783080"/>
            <a:ext cx="2606040" cy="3611880"/>
          </a:xfrm>
          <a:prstGeom prst="roundRect">
            <a:avLst>
              <a:gd name="adj" fmla="val 2807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3"/>
          <p:cNvSpPr/>
          <p:nvPr/>
        </p:nvSpPr>
        <p:spPr>
          <a:xfrm>
            <a:off x="6391656" y="201168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302" y="215432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91656" y="2697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Jack, 29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391656" y="30358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Post-2032 Domestic Fan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391656" y="3401568"/>
            <a:ext cx="2148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his sport cold — halftime is still dead time. Proves the model beyond the Olympics.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970264" y="1783080"/>
            <a:ext cx="2606040" cy="3611880"/>
          </a:xfrm>
          <a:prstGeom prst="roundRect">
            <a:avLst>
              <a:gd name="adj" fmla="val 2807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18"/>
          <p:cNvSpPr/>
          <p:nvPr/>
        </p:nvSpPr>
        <p:spPr>
          <a:xfrm>
            <a:off x="9198864" y="201168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1510" y="2154326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98864" y="2697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Aaliyah, 22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198864" y="30358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Social Sharer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198864" y="3401568"/>
            <a:ext cx="2148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everything worth sharing — the leaderboard moment is the content.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Games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 — FAN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Seconds From Scroll to Score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568196" y="2331720"/>
            <a:ext cx="18288" cy="91"/>
          </a:xfrm>
          <a:prstGeom prst="rect">
            <a:avLst/>
          </a:prstGeom>
          <a:ln/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3790188" y="2331720"/>
            <a:ext cx="18288" cy="91"/>
          </a:xfrm>
          <a:prstGeom prst="rect">
            <a:avLst/>
          </a:prstGeom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6012180" y="2331720"/>
            <a:ext cx="18288" cy="91"/>
          </a:xfrm>
          <a:prstGeom prst="rect">
            <a:avLst/>
          </a:prstGeom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8234172" y="2331720"/>
            <a:ext cx="18288" cy="91"/>
          </a:xfrm>
          <a:prstGeom prst="rect">
            <a:avLst/>
          </a:prstGeom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10456164" y="2331720"/>
            <a:ext cx="18288" cy="91"/>
          </a:xfrm>
          <a:prstGeom prst="rect">
            <a:avLst/>
          </a:prstGeom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868680" y="2606040"/>
            <a:ext cx="10424160" cy="18288"/>
          </a:xfrm>
          <a:prstGeom prst="rect">
            <a:avLst/>
          </a:prstGeom>
          <a:solidFill>
            <a:srgbClr val="D7E1E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1257300" y="2331720"/>
            <a:ext cx="640080" cy="640080"/>
          </a:xfrm>
          <a:prstGeom prst="ellipse">
            <a:avLst/>
          </a:prstGeom>
          <a:solidFill>
            <a:srgbClr val="0B1B33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04" y="2478024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1828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8640" y="3154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4360" y="352044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joins queue. Dead time begins — instinct is to reach for the phone.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479292" y="2331720"/>
            <a:ext cx="640080" cy="640080"/>
          </a:xfrm>
          <a:prstGeom prst="ellipse">
            <a:avLst/>
          </a:prstGeom>
          <a:solidFill>
            <a:srgbClr val="0B1B33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5596" y="2478024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770632" y="1828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2770632" y="3154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816352" y="352044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appears on the stadium screen. Scan connects to Wi-Fi &amp; loads in under 3 seconds.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701284" y="2331720"/>
            <a:ext cx="640080" cy="640080"/>
          </a:xfrm>
          <a:prstGeom prst="ellipse">
            <a:avLst/>
          </a:prstGeom>
          <a:solidFill>
            <a:srgbClr val="0B1B33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7588" y="2478024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992624" y="1828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4992624" y="3154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038344" y="352044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or Account mode. A 2–3 minute quiz, prediction, or sport challenge.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7923276" y="2331720"/>
            <a:ext cx="640080" cy="640080"/>
          </a:xfrm>
          <a:prstGeom prst="ellipse">
            <a:avLst/>
          </a:prstGeom>
          <a:solidFill>
            <a:srgbClr val="0B1B33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9580" y="2478024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214616" y="1828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7214616" y="3154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7260336" y="352044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live on the big screen. Prize lands instantly on the phone.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10145268" y="2331720"/>
            <a:ext cx="640080" cy="640080"/>
          </a:xfrm>
          <a:prstGeom prst="ellipse">
            <a:avLst/>
          </a:prstGeom>
          <a:solidFill>
            <a:srgbClr val="0B1B33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1572" y="2478024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436608" y="1828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9436608" y="3154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9482328" y="352044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Location-aware offer — walk 50 metres, redeem, return to the seat.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548640" y="52120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6" name="Text 29"/>
          <p:cNvSpPr/>
          <p:nvPr/>
        </p:nvSpPr>
        <p:spPr>
          <a:xfrm>
            <a:off x="822960" y="5212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Re-engagement: </a:t>
            </a:r>
            <a:r>
              <a:rPr lang="en-US" sz="12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resumes, the fan understands the sport better, feels personally invested — and often shares the win, extending reach beyond the venue.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Games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 — SPONSOR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Billboard Spend to Measurable Engagement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EAF2FB"/>
          </a:solidFill>
          <a:ln w="1270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29184" cy="32918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78308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794760" y="178308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introduces Play the Games as new inventory within an existing sponsorship relationship.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78024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731520" y="2615184"/>
            <a:ext cx="329184" cy="32918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731520" y="2615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478024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794760" y="2478024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Active, measurable engagement vs. passive impressions — a clear point of difference.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72968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EAF2FB"/>
          </a:solidFill>
          <a:ln w="1270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731520" y="3310128"/>
            <a:ext cx="329184" cy="32918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73152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317296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&amp; Deal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794760" y="317296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selects a package: branded sessions, sponsored prizes, in-game ads. Revenue share agreed.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67912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731520" y="4005072"/>
            <a:ext cx="329184" cy="32918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731520" y="4005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86791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794760" y="3867912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assets go live via the sponsorship CMS — seamless, on-brand, non-intrusive.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562856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EAF2FB"/>
          </a:solidFill>
          <a:ln w="1270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731520" y="4700016"/>
            <a:ext cx="329184" cy="32918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731520" y="4700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562856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Renewal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794760" y="4562856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performance data: sessions, time spent, redemptions. Renewal is an easy conversation.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Games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B2B2C Revenue Share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 are the partner. Brands are the customer. Fans are the user — and never pay.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2971800" cy="1965960"/>
          </a:xfrm>
          <a:prstGeom prst="roundRect">
            <a:avLst>
              <a:gd name="adj" fmla="val 3721"/>
            </a:avLst>
          </a:prstGeom>
          <a:solidFill>
            <a:srgbClr val="13294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1143000" y="2121408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759" y="2252167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27249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&amp; Sponsors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43000" y="3072384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venues for new interactive inventory — dead-time engagement slots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17720" y="1920240"/>
            <a:ext cx="2971800" cy="1965960"/>
          </a:xfrm>
          <a:prstGeom prst="roundRect">
            <a:avLst>
              <a:gd name="adj" fmla="val 3721"/>
            </a:avLst>
          </a:prstGeom>
          <a:solidFill>
            <a:srgbClr val="13294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4846320" y="2121408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7079" y="2252167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46320" y="27249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846320" y="3072384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holds sponsor relationships. Shares an agreed % of incremental revenue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321040" y="1920240"/>
            <a:ext cx="2971800" cy="1965960"/>
          </a:xfrm>
          <a:prstGeom prst="roundRect">
            <a:avLst>
              <a:gd name="adj" fmla="val 3721"/>
            </a:avLst>
          </a:prstGeom>
          <a:solidFill>
            <a:srgbClr val="13294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2"/>
          <p:cNvSpPr/>
          <p:nvPr/>
        </p:nvSpPr>
        <p:spPr>
          <a:xfrm>
            <a:off x="8549640" y="2121408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0399" y="2252167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27249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Games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549640" y="3072384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&amp; operates the platform. Receives revenue share — no cost to venue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178808" y="2834640"/>
            <a:ext cx="146304" cy="146304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Shape 16"/>
          <p:cNvSpPr/>
          <p:nvPr/>
        </p:nvSpPr>
        <p:spPr>
          <a:xfrm>
            <a:off x="4325112" y="2834640"/>
            <a:ext cx="146304" cy="146304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Shape 17"/>
          <p:cNvSpPr/>
          <p:nvPr/>
        </p:nvSpPr>
        <p:spPr>
          <a:xfrm>
            <a:off x="7882128" y="2834640"/>
            <a:ext cx="146304" cy="146304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Shape 18"/>
          <p:cNvSpPr/>
          <p:nvPr/>
        </p:nvSpPr>
        <p:spPr>
          <a:xfrm>
            <a:off x="8028432" y="2834640"/>
            <a:ext cx="146304" cy="146304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Shape 19"/>
          <p:cNvSpPr/>
          <p:nvPr/>
        </p:nvSpPr>
        <p:spPr>
          <a:xfrm>
            <a:off x="548640" y="425196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13294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Text 20"/>
          <p:cNvSpPr/>
          <p:nvPr/>
        </p:nvSpPr>
        <p:spPr>
          <a:xfrm>
            <a:off x="868680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%: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negotiated per venue partnership.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venue takes on zero financial risk</a:t>
            </a:r>
            <a:r>
              <a:rPr lang="en-US" sz="135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Play the Games generates new revenue on top of what they already earn, and shares it.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868680" y="50292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Fans pay nothing. Free to play, fully opt-in, prize-for-attention.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Games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CREATED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Value — And Value Beyond Revenue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3840480"/>
          </a:xfrm>
          <a:prstGeom prst="roundRect">
            <a:avLst>
              <a:gd name="adj" fmla="val 1905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VALUE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→"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unsold dead-time inventory into a measurable, billable media asset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→"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incremental F&amp;B and merchandise spend that wouldn't otherwise occur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→"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across venue types — stadiums, arenas, outdoor venues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→"/>
            </a:pPr>
            <a:r>
              <a:rPr lang="en-US" sz="12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Post-2032: recurring licensing revenue as the platform expands to AFL, NRL, Cricket Australia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53912" y="1783080"/>
            <a:ext cx="5349240" cy="3840480"/>
          </a:xfrm>
          <a:prstGeom prst="roundRect">
            <a:avLst>
              <a:gd name="adj" fmla="val 1905"/>
            </a:avLst>
          </a:prstGeom>
          <a:solidFill>
            <a:srgbClr val="0B1B33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6428232" y="1965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BEYOND REVENUE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28232" y="237744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→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literacy: fans learn sports they'd never watched — long-term audience growth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→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Inclusion: multilingual, free to play, accessible by design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→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insight: anonymised engagement data for venues and sponsors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→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Olympic legacy: infrastructure that outlives the closing ceremony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→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exchange: fully opt-in, transparent, prize-for-attention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Games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Outpaces Cost From Year Two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8595360" y="1920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595360" y="21945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2027: highest-cost year by design — one-time platform build ($150K) absorbed against a 3-venue pilot.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595360" y="3108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OLYMPIC PEAK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95360" y="33832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2032: 37 venues × 17 days × premium sponsorship rate — the single largest revenue event in the model.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595360" y="4297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45720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2033+: predictable annual licensing from AFL, NRL, Cricket Australia replaces revenue-share volatility.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directional planning estimates (see Appendix C for full assumptions and sources). Revenue share % is a placeholder to be negotiated per venue.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Games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Technically Ready. Legally Designed-In.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069080"/>
          </a:xfrm>
          <a:prstGeom prst="roundRect">
            <a:avLst>
              <a:gd name="adj" fmla="val 1798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20967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11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Technically Feasible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via QR scan — mobile web or app, no download required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Queensland venues already run high-density Wi-Fi: Suncorp Stadium delivers up to 100Mbps via hundreds of under-seat access points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networks already exist for fans and athletes at major Queensland venues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video screen infrastructure can display sponsored games, leaderboards and winners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53912" y="1783080"/>
            <a:ext cx="5349240" cy="4069080"/>
          </a:xfrm>
          <a:prstGeom prst="roundRect">
            <a:avLst>
              <a:gd name="adj" fmla="val 1798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6428232" y="196596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991" y="20967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68312" y="2011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Legally Feasible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28232" y="26060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is collected only with participant consent — minimal by design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Skill-based formats (quizzes, predictions) — not chance — keep prize mechanics outside gambling regulation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hidden cost for fans to enter or exit a game at any time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collaborations structured around each organisation's existing competitor/exclusivity clauses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Brenda (2026); Spanoudakis &amp; Ritsinias (2026) — stadium Wi-Fi/synchronisation at scale; Queensland venue operator public infrastructure information (Suncorp Stadium, Queensland Country Bank Stadium, Brighton Homes Arena, People First Stadium).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Games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Win in Four Different Futures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uncertainties we don't control: will fans shift attention in-venue, and will sponsors invest aggressively?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13294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Stadium, Full Screen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35915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Fans shift in-venue + sponsors invest aggressively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</a:t>
            </a:r>
            <a:r>
              <a:rPr lang="en-US" sz="10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fast, lock in venue exclusivity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62472" y="18288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13294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291072" y="19659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Spotlight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91072" y="235915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stays dominant + sponsors invest anyway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91072" y="29718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</a:t>
            </a:r>
            <a:r>
              <a:rPr lang="en-US" sz="10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guaranteed, measurable engagement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730752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13294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777240" y="38679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Time Wins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26110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quo holds — the scenario to guard against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487375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</a:t>
            </a:r>
            <a:r>
              <a:rPr lang="en-US" sz="10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is the make-or-break proof point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62472" y="3730752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13294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291072" y="38679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Fans Ready, Brands Waiting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91072" y="426110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exists, funding is cautious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91072" y="487375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</a:t>
            </a:r>
            <a:r>
              <a:rPr lang="en-US" sz="10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engagement data unlock sponsor budget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Games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DESIGN CHOICE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Everyone Plays Together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when is flexible. </a:t>
            </a:r>
            <a:r>
              <a:rPr lang="en-US" sz="150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 choose the optimal trigger moment for their own crowd flow. </a:t>
            </a:r>
            <a:r>
              <a:rPr lang="en-US" sz="15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togetherness is not.</a:t>
            </a:r>
            <a:r>
              <a:rPr lang="en-US" sz="150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fan in their seat plays the same synchronised session.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822960" y="324612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338876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9319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Influence needs simultaneity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44348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leaderboards and stadium-screen winners only create peer pull if everyone plays at once.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43400" y="306324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9"/>
          <p:cNvSpPr/>
          <p:nvPr/>
        </p:nvSpPr>
        <p:spPr>
          <a:xfrm>
            <a:off x="4617720" y="324612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0366" y="338876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39319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 already know their crowd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617720" y="44348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Concourse width and concession layout vary — each venue picks its own optimal trigger moment.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38160" y="306324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3"/>
          <p:cNvSpPr/>
          <p:nvPr/>
        </p:nvSpPr>
        <p:spPr>
          <a:xfrm>
            <a:off x="8412480" y="324612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5126" y="338876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39319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 buy a single countable moment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412480" y="44348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'some fans, sometime' — a guaranteed, stadium-wide spike of measurable attention.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Games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TO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and Expand: 2027 to 2034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68680" y="2697480"/>
            <a:ext cx="10424160" cy="18288"/>
          </a:xfrm>
          <a:prstGeom prst="rect">
            <a:avLst/>
          </a:prstGeom>
          <a:solidFill>
            <a:srgbClr val="D7E1E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284732" y="2423160"/>
            <a:ext cx="585216" cy="585216"/>
          </a:xfrm>
          <a:prstGeom prst="ellipse">
            <a:avLst/>
          </a:prstGeom>
          <a:solidFill>
            <a:srgbClr val="00C2A8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284732" y="24231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361188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Queensland Stadiums (AFL/NRL). Validate: will fans scan, play, finish, redeem?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06724" y="2423160"/>
            <a:ext cx="585216" cy="585216"/>
          </a:xfrm>
          <a:prstGeom prst="ellipse">
            <a:avLst/>
          </a:prstGeom>
          <a:solidFill>
            <a:srgbClr val="00C2A8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506724" y="24231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2028–30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70632" y="3200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16352" y="361188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venue activation kit. RWC 2027, T20 WC 2028, Women's RWC 2029.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28716" y="2423160"/>
            <a:ext cx="585216" cy="585216"/>
          </a:xfrm>
          <a:prstGeom prst="ellipse">
            <a:avLst/>
          </a:prstGeom>
          <a:solidFill>
            <a:srgbClr val="F5A623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728716" y="24231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2030–31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92624" y="3200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Olympic-Ready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38344" y="361188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IP rights, category exclusivity, technical hardening for Games scale.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0708" y="2423160"/>
            <a:ext cx="585216" cy="585216"/>
          </a:xfrm>
          <a:prstGeom prst="ellipse">
            <a:avLst/>
          </a:prstGeom>
          <a:solidFill>
            <a:srgbClr val="F5A623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7950708" y="24231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214616" y="3200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60336" y="361188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deployment: 37 venues, 17 days, flagship proof of concept at scale.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172700" y="2423160"/>
            <a:ext cx="585216" cy="585216"/>
          </a:xfrm>
          <a:prstGeom prst="ellipse">
            <a:avLst/>
          </a:prstGeom>
          <a:solidFill>
            <a:srgbClr val="00C2A8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10172700" y="24231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2033+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436608" y="3200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482328" y="361188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product. License to AFL, NRL, Cricket Australia, A-League, Tennis Australia.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539496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0B1B3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822960" y="5394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 shifts from "help us test this" to "Brisbane 2032 proved this works — now license it for your season."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Games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THIS, 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Window No Incumbent Is Built For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6172200" y="17830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548640" y="37033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6172200" y="37033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200046"/>
            <a:ext cx="263347" cy="26334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201168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inventory, not a new competitor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69748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extend venues' existing sponsor relationships — we don't ask them to replace anything.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46520" y="205740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166" y="220004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201168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this exact window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46520" y="269748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Monterosa and LiveLike are broadcast/digital-first. We're purpose-built for the physical, in-venue Olympic moment.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22960" y="397764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" y="412028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93192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financial risk for venues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22960" y="46177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upfront cost, no new infrastructure — we share revenue we help create.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46520" y="39776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9166" y="412028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393192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before it's big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46520" y="46177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pilot (2027) and major tournaments (2028–29) validate the model years before Olympic scale.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Games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COULD BE CHALLENGED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Know Where This Is Hardest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914" cy="914"/>
          </a:xfrm>
          <a:prstGeom prst="rect">
            <a:avLst/>
          </a:prstGeom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914" cy="914"/>
          </a:xfrm>
          <a:prstGeom prst="rect">
            <a:avLst/>
          </a:prstGeom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548640" y="466344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548640" y="4663440"/>
            <a:ext cx="914" cy="914"/>
          </a:xfrm>
          <a:prstGeom prst="rect">
            <a:avLst/>
          </a:prstGeom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822960" y="2121408"/>
            <a:ext cx="502920" cy="502920"/>
          </a:xfrm>
          <a:prstGeom prst="ellipse">
            <a:avLst/>
          </a:prstGeom>
          <a:solidFill>
            <a:srgbClr val="C7546B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2252167"/>
            <a:ext cx="241402" cy="24140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54480" y="199339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% is still being negotiated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554480" y="239572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answer: </a:t>
            </a:r>
            <a:r>
              <a:rPr lang="en-US" sz="12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plugs in any negotiated rate — the pilot exists to prove value first.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22960" y="3538728"/>
            <a:ext cx="502920" cy="502920"/>
          </a:xfrm>
          <a:prstGeom prst="ellipse">
            <a:avLst/>
          </a:prstGeom>
          <a:solidFill>
            <a:srgbClr val="C7546B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3669487"/>
            <a:ext cx="241402" cy="24140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54480" y="341071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30,000+ simultaneous users is a hard engineering problem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554480" y="381304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answer: </a:t>
            </a:r>
            <a:r>
              <a:rPr lang="en-US" sz="12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exactly why we stress-test at domestic scale before Olympic load.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22960" y="4956048"/>
            <a:ext cx="502920" cy="502920"/>
          </a:xfrm>
          <a:prstGeom prst="ellipse">
            <a:avLst/>
          </a:prstGeom>
          <a:solidFill>
            <a:srgbClr val="C7546B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5086807"/>
            <a:ext cx="241402" cy="24140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482803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OCOG faces many competing vendor pitches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554480" y="523036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answer: </a:t>
            </a:r>
            <a:r>
              <a:rPr lang="en-US" sz="12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documented, successful domestic pilot is our strongest possible differentiator.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48640" y="6080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vulnerability analysis and evidence requirements — Appendix D.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Games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8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Brisbane 2032 is the proof of concept.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2423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Australian sport is the market.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520440"/>
            <a:ext cx="11064240" cy="9144"/>
          </a:xfrm>
          <a:prstGeom prst="rect">
            <a:avLst/>
          </a:prstGeom>
          <a:solidFill>
            <a:srgbClr val="2A3F5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548640" y="3831336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868680" y="37947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Queensland Stadiums pilot partner  </a:t>
            </a:r>
            <a:r>
              <a:rPr lang="en-US" sz="1500" dirty="0">
                <a:solidFill>
                  <a:srgbClr val="AE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2027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517136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868680" y="44805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anchor sponsor  </a:t>
            </a:r>
            <a:r>
              <a:rPr lang="en-US" sz="1500" dirty="0">
                <a:solidFill>
                  <a:srgbClr val="AE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co-invest in proving the concept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202936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868680" y="51663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 with Brisbane 2032 OCOG  </a:t>
            </a:r>
            <a:r>
              <a:rPr lang="en-US" sz="1500" dirty="0">
                <a:solidFill>
                  <a:srgbClr val="AE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Games as flagship deployment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080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 the Games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45752" y="6080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A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548640" y="3520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detail: UTAUT analysis · Stakeholder map · Persona deep-dives · Vulnerability evidence · Cost-benefit assumptions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ADOPTION THEORY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UTAUT: Why Fans Will Actually Use This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3611880"/>
          </a:xfrm>
          <a:prstGeom prst="roundRect">
            <a:avLst>
              <a:gd name="adj" fmla="val 2807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21543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974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Expectancy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333756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are immediate and visible — instant voucher, live leaderboard, clear value at the QR touchpoint.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55848" y="1783080"/>
            <a:ext cx="2606040" cy="3611880"/>
          </a:xfrm>
          <a:prstGeom prst="roundRect">
            <a:avLst>
              <a:gd name="adj" fmla="val 2807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3584448" y="201168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7094" y="21543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84448" y="26974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Expectancy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84448" y="333756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app, no password — play in under 3 seconds. Gamification mechanics lower perceived effort (Sailer &amp; Homner, 2020; Woolley &amp; Sharif, 2025).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63056" y="1783080"/>
            <a:ext cx="2606040" cy="3611880"/>
          </a:xfrm>
          <a:prstGeom prst="roundRect">
            <a:avLst>
              <a:gd name="adj" fmla="val 2807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1"/>
          <p:cNvSpPr/>
          <p:nvPr/>
        </p:nvSpPr>
        <p:spPr>
          <a:xfrm>
            <a:off x="6391656" y="201168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302" y="215432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91656" y="26974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Influence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91656" y="333756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leaderboards and public stadium-screen winners make play a shared spectacle, not a private app interaction.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970264" y="1783080"/>
            <a:ext cx="2606040" cy="3611880"/>
          </a:xfrm>
          <a:prstGeom prst="roundRect">
            <a:avLst>
              <a:gd name="adj" fmla="val 2807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5"/>
          <p:cNvSpPr/>
          <p:nvPr/>
        </p:nvSpPr>
        <p:spPr>
          <a:xfrm>
            <a:off x="9198864" y="201168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1510" y="215432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98864" y="26974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Facilitating Conditions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198864" y="333756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venue Wi-Fi, on-device game logic, clear signage — fans trust the system will work.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Venkatesh et al. (2003), Unified Theory of Acceptance and Use of Technology.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/ App.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Games — Appendix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STAKEHOLDERS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/ Interest Matrix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0B1B33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Closely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Power, High Interest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Brisbane 2032 OCOG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 &amp; Stadiums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&amp; Sponsors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62472" y="17830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291072" y="19202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Satisfied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91072" y="22402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Power, Low Interest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91072" y="256032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Federal Government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Privacy Regulator (OAIC)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Transport/Infrastructure (TransLink)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822192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777240" y="395935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Informed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27939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Power, High Interest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77240" y="459943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Fans (End Users)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Sporting Federations &amp; Athletes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Concession/Merch Vendors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Post-2032 Licensees (AFL, NRL, Cricket Aus)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62472" y="3822192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6291072" y="395935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91072" y="427939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Power, Low Interest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91072" y="459943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Platforms (Monterosa, LiveLike)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/ App.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Games — Appendix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 — FINANCIAL ASSUMPTIONS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Revenue &amp; Cost Model Is Built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 Revenue Formula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B1B3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Venues  x  Events per Venue  x  Sessions per Event  x  Fee per Session  x  Revenue Share %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54680"/>
          <a:ext cx="11091672" cy="265176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Domestic fee / session (2027)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$2,000 AUD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Entry-tier stadium digital inventory (AdQuick benchmark)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Olympic fee / session (2032)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$10,000 AUD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LED/perimeter inventory (DOIT Vision, Carvertise benchmarks)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build (Year 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$150,000 AUD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Mobile-web MVP tier (TechAhead, Netguru benchmarks)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maintenance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of build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Industry-standard app maintenance allowance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share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negotiated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Placeholder — pilot exists to validate before commitment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with year-by-year cost/revenue build-up and complete source list available as a companion Excel workbook.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/ App.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Games — Appendix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D — STRESS-TESTING 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Vulnerabilities &amp; Evidence We'd Want</a:t>
            </a:r>
            <a:endParaRPr lang="en-US" sz="3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062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Counter-Argument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That Would Strengthen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Competitors could copy the QR-flow fast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own the Brisbane 2032-specific moment, not the QR mechanic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incumbents have no Olympic-specific roadmap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30,000+ simultaneous 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stress-tests at domestic scale first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Successful load test at a 20,000-seat 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Novelty wears off by year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Hourly rotating content formats fight fatigue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Multi-season retention data from a comparable 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Sponsors may see this as cannibalising social spend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In-venue is the one channel social media can't reach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sponsor case study using both channels together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Three-sided dependency: OCOG + venues + sponsors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Phased pilot earns trust incrementally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single signed pilot agreement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/ App.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Games — Appendix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E — PERSONA 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Liam O'Connor — The Multi-Event Games Fan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EAF2FB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965960" y="2011680"/>
            <a:ext cx="914400" cy="91440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704" y="224942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108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</a:t>
            </a: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22960" y="35661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</a:t>
            </a: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Brisbane-based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4023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Occupation: </a:t>
            </a: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/ consultant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4480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Olympic behaviour: </a:t>
            </a: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sessions, partner + friends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22960" y="4937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knowledge: </a:t>
            </a: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domestic, weak on niche Olympic sports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206240" y="17830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206240" y="21031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basic boredom — fragmentation. Attending multiple sessions across different venues and sports, with no mechanism connecting his Games journey into one continuous experience.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206240" y="30175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Play the Games Does for Him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206240" y="333756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Mode lets him collect points across sessions, compete with friends, answer Olympic trivia and track progress on a cross-venue leaderboard — a Games companion, not a one-off distraction.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206240" y="4251960"/>
            <a:ext cx="7406640" cy="1554480"/>
          </a:xfrm>
          <a:prstGeom prst="roundRect">
            <a:avLst>
              <a:gd name="adj" fmla="val 4706"/>
            </a:avLst>
          </a:prstGeom>
          <a:solidFill>
            <a:srgbClr val="0B1B3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4"/>
          <p:cNvSpPr/>
          <p:nvPr/>
        </p:nvSpPr>
        <p:spPr>
          <a:xfrm>
            <a:off x="4480560" y="43891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connects my whole Olympic experience."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480560" y="48006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am part of the Games, not just watching them."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480560" y="52120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account, collect points, join leaderboards, return at next venue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6035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further personas (Sofia, Jack, Aaliyah) follow the same structure — full detail in the companion persona document.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/ App.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Games — Appendix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3262</Words>
  <Application>Microsoft Office PowerPoint</Application>
  <PresentationFormat>Breitbild</PresentationFormat>
  <Paragraphs>427</Paragraphs>
  <Slides>26</Slides>
  <Notes>26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26</vt:i4>
      </vt:variant>
    </vt:vector>
  </HeadingPairs>
  <TitlesOfParts>
    <vt:vector size="30" baseType="lpstr">
      <vt:lpstr>Arial</vt:lpstr>
      <vt:lpstr>Calibri</vt:lpstr>
      <vt:lpstr>Cambria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 the Games — Brisbane 2032 and Beyond</dc:title>
  <dc:subject>PptxGenJS Presentation</dc:subject>
  <dc:creator>Play the Games</dc:creator>
  <cp:lastModifiedBy>Jule Markus</cp:lastModifiedBy>
  <cp:revision>1</cp:revision>
  <dcterms:created xsi:type="dcterms:W3CDTF">2026-06-30T06:42:54Z</dcterms:created>
  <dcterms:modified xsi:type="dcterms:W3CDTF">2026-06-30T06:49:57Z</dcterms:modified>
</cp:coreProperties>
</file>